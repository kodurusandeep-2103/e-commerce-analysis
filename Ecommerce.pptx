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91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319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97205390</c:v>
                </c:pt>
                <c:pt idx="1">
                  <c:v>93742430</c:v>
                </c:pt>
                <c:pt idx="2">
                  <c:v>95534050</c:v>
                </c:pt>
                <c:pt idx="3">
                  <c:v>92423320</c:v>
                </c:pt>
                <c:pt idx="4">
                  <c:v>95780910</c:v>
                </c:pt>
                <c:pt idx="5">
                  <c:v>136328300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E7-4160-9290-B9AC2FB5DE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FF3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319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Phones &amp; Tablet</c:v>
                </c:pt>
                <c:pt idx="1">
                  <c:v>Electronics</c:v>
                </c:pt>
                <c:pt idx="2">
                  <c:v>Fashion</c:v>
                </c:pt>
                <c:pt idx="3">
                  <c:v>Health &amp; Beauty</c:v>
                </c:pt>
                <c:pt idx="4">
                  <c:v>Home &amp; Office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269661120</c:v>
                </c:pt>
                <c:pt idx="1">
                  <c:v>91614624</c:v>
                </c:pt>
                <c:pt idx="2">
                  <c:v>85993782</c:v>
                </c:pt>
                <c:pt idx="3">
                  <c:v>83205972</c:v>
                </c:pt>
                <c:pt idx="4">
                  <c:v>80538744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CB-4BFF-BFA2-8470A38C62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19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DEFF3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Customers</c:v>
                </c:pt>
              </c:strCache>
            </c:strRef>
          </c:tx>
          <c:spPr>
            <a:ln w="38100" cap="flat">
              <a:solidFill>
                <a:srgbClr val="13192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31921"/>
              </a:solidFill>
              <a:ln w="9525" cap="flat">
                <a:solidFill>
                  <a:srgbClr val="13192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31921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17624</c:v>
                </c:pt>
                <c:pt idx="1">
                  <c:v>17634</c:v>
                </c:pt>
                <c:pt idx="2">
                  <c:v>17672</c:v>
                </c:pt>
                <c:pt idx="3">
                  <c:v>17354</c:v>
                </c:pt>
                <c:pt idx="4">
                  <c:v>17537</c:v>
                </c:pt>
                <c:pt idx="5">
                  <c:v>25179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8D2-4BC7-B158-1DCB78B715B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94E-47FA-A7E8-97E09A0CFA7E}"/>
              </c:ext>
            </c:extLst>
          </c:dPt>
          <c:dPt>
            <c:idx val="1"/>
            <c:bubble3D val="0"/>
            <c:spPr>
              <a:solidFill>
                <a:srgbClr val="1319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4E-47FA-A7E8-97E09A0CFA7E}"/>
              </c:ext>
            </c:extLst>
          </c:dPt>
          <c:dPt>
            <c:idx val="2"/>
            <c:bubble3D val="0"/>
            <c:spPr>
              <a:solidFill>
                <a:srgbClr val="00A8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4E-47FA-A7E8-97E09A0CFA7E}"/>
              </c:ext>
            </c:extLst>
          </c:dPt>
          <c:dPt>
            <c:idx val="3"/>
            <c:bubble3D val="0"/>
            <c:spPr>
              <a:solidFill>
                <a:srgbClr val="84B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4E-47FA-A7E8-97E09A0CFA7E}"/>
              </c:ext>
            </c:extLst>
          </c:dPt>
          <c:dPt>
            <c:idx val="4"/>
            <c:bubble3D val="0"/>
            <c:spPr>
              <a:solidFill>
                <a:srgbClr val="6D2E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94E-47FA-A7E8-97E09A0CFA7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94E-47FA-A7E8-97E09A0CFA7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4E-47FA-A7E8-97E09A0CFA7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94E-47FA-A7E8-97E09A0CFA7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94E-47FA-A7E8-97E09A0CFA7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94E-47FA-A7E8-97E09A0CFA7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Health &amp; Beauty</c:v>
                </c:pt>
                <c:pt idx="1">
                  <c:v>Fashion</c:v>
                </c:pt>
                <c:pt idx="2">
                  <c:v>Phones &amp; Tablet</c:v>
                </c:pt>
                <c:pt idx="3">
                  <c:v>Home &amp; Office</c:v>
                </c:pt>
                <c:pt idx="4">
                  <c:v>Electronics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9795</c:v>
                </c:pt>
                <c:pt idx="1">
                  <c:v>9042</c:v>
                </c:pt>
                <c:pt idx="2">
                  <c:v>4715</c:v>
                </c:pt>
                <c:pt idx="3">
                  <c:v>4237</c:v>
                </c:pt>
                <c:pt idx="4">
                  <c:v>2736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4E-47FA-A7E8-97E09A0CFA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0A8E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319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Greater Accra</c:v>
                </c:pt>
                <c:pt idx="1">
                  <c:v>Ashanti</c:v>
                </c:pt>
                <c:pt idx="2">
                  <c:v>Western</c:v>
                </c:pt>
                <c:pt idx="3">
                  <c:v>Weija</c:v>
                </c:pt>
                <c:pt idx="4">
                  <c:v>Upper West</c:v>
                </c:pt>
                <c:pt idx="5">
                  <c:v>Volta</c:v>
                </c:pt>
                <c:pt idx="6">
                  <c:v>Upper East</c:v>
                </c:pt>
                <c:pt idx="7">
                  <c:v>Prampram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154116300</c:v>
                </c:pt>
                <c:pt idx="1">
                  <c:v>128800000</c:v>
                </c:pt>
                <c:pt idx="2">
                  <c:v>94826270</c:v>
                </c:pt>
                <c:pt idx="3">
                  <c:v>74424720</c:v>
                </c:pt>
                <c:pt idx="4">
                  <c:v>30829580</c:v>
                </c:pt>
                <c:pt idx="5">
                  <c:v>27995900</c:v>
                </c:pt>
                <c:pt idx="6">
                  <c:v>17773780</c:v>
                </c:pt>
                <c:pt idx="7">
                  <c:v>13003830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FD-426C-8FAC-221099BC74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319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DEFF3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58009028</c:v>
                </c:pt>
                <c:pt idx="1">
                  <c:v>49605620</c:v>
                </c:pt>
                <c:pt idx="2">
                  <c:v>55969130</c:v>
                </c:pt>
                <c:pt idx="3">
                  <c:v>54186392</c:v>
                </c:pt>
                <c:pt idx="4">
                  <c:v>56076997</c:v>
                </c:pt>
                <c:pt idx="5">
                  <c:v>46102298</c:v>
                </c:pt>
                <c:pt idx="6">
                  <c:v>49399784</c:v>
                </c:pt>
                <c:pt idx="7">
                  <c:v>49994450</c:v>
                </c:pt>
                <c:pt idx="8">
                  <c:v>45480775</c:v>
                </c:pt>
                <c:pt idx="9">
                  <c:v>49399256</c:v>
                </c:pt>
                <c:pt idx="10">
                  <c:v>47823985</c:v>
                </c:pt>
                <c:pt idx="11">
                  <c:v>48966661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9B-4460-AF13-71DA03C3AB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FF3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Delivery Days</c:v>
                </c:pt>
              </c:strCache>
            </c:strRef>
          </c:tx>
          <c:spPr>
            <a:solidFill>
              <a:srgbClr val="13192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19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Express</c:v>
                </c:pt>
                <c:pt idx="1">
                  <c:v>Standard Delivery</c:v>
                </c:pt>
                <c:pt idx="2">
                  <c:v>Shipped from Abroad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</c:v>
                </c:pt>
                <c:pt idx="1">
                  <c:v>10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A-49CE-84BC-5FB453CD2A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19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876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6583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E-Commerce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Business Strategy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exploration of revenue, customers, delivery performance,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7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growth opportunities across the Amazon e-commerce dataset.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87044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Sandeep Koduru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Schema — Column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4709160"/>
          </a:xfrm>
          <a:prstGeom prst="roundRect">
            <a:avLst>
              <a:gd name="adj" fmla="val 1165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6492240" cy="548640"/>
          </a:xfrm>
          <a:prstGeom prst="roundRect">
            <a:avLst>
              <a:gd name="adj" fmla="val 10000"/>
            </a:avLst>
          </a:prstGeom>
          <a:solidFill>
            <a:srgbClr val="13192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6492240" cy="2286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  —  17 columns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29260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Date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Type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2331720"/>
            <a:ext cx="29260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Fee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Quantity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1554480"/>
            <a:ext cx="4233672" cy="4709160"/>
          </a:xfrm>
          <a:prstGeom prst="roundRect">
            <a:avLst>
              <a:gd name="adj" fmla="val 1296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06640" y="1554480"/>
            <a:ext cx="4233672" cy="548640"/>
          </a:xfrm>
          <a:prstGeom prst="roundRect">
            <a:avLst>
              <a:gd name="adj" fmla="val 10000"/>
            </a:avLst>
          </a:prstGeom>
          <a:solidFill>
            <a:srgbClr val="FF9900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0" y="1874520"/>
            <a:ext cx="4233672" cy="228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1554480"/>
            <a:ext cx="3867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Table  —  3 columns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2377440"/>
            <a:ext cx="368503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Gender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35240" y="4297680"/>
            <a:ext cx="3776472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443484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0" y="4754880"/>
            <a:ext cx="36850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via CustomerID — links each customer to their order history for age &amp; gender-based analysis.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 — Customers &amp; Orders Tables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Table (sample rows)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5648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Gender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230459067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230459068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230459069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230459072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230459073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657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 (sample rows)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05072"/>
          <a:ext cx="11064240" cy="9144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19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19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19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19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19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19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19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19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19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31-05-2020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5136486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230569424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31-05-2020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5136457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230568182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Delivery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&amp; Beauty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446.40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31-05-2020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5136465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230567584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Delivery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&amp; Beauty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1026.00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31-05-2020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5136488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230563788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Accra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 &amp; Tablet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2716.00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31-05-2020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5136449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230563726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 Abroad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1092.00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2636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113,199 order records  •  113,000 unique customers  •  17 order attributes  •  3 customer attributes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 Trend (2015 – 2020)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822960" y="1783080"/>
          <a:ext cx="63093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50876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27848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5"/>
          <p:cNvSpPr/>
          <p:nvPr/>
        </p:nvSpPr>
        <p:spPr>
          <a:xfrm>
            <a:off x="7927848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48472" y="1673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01000" y="2112264"/>
            <a:ext cx="3429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reached ₹611M overall — 2020 alone hit ₹136M, up ~42% vs prior years.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2016–2019 revenue was remarkably stable, hovering between ₹92M–₹96M each year.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2020 jump suggests a demand surge — likely tied to increased online shopping activity.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26680" y="3977640"/>
            <a:ext cx="3977640" cy="2423160"/>
          </a:xfrm>
          <a:prstGeom prst="roundRect">
            <a:avLst>
              <a:gd name="adj" fmla="val 2264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27848" y="4160520"/>
            <a:ext cx="310896" cy="310896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13" name="Text 10"/>
          <p:cNvSpPr/>
          <p:nvPr/>
        </p:nvSpPr>
        <p:spPr>
          <a:xfrm>
            <a:off x="7927848" y="4160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48472" y="4142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It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01000" y="4581144"/>
            <a:ext cx="3429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measure: Total Revenue = SUMX(Orders, Order Quantity × Sale Price), shown as a Card visual KPI.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extracted via YEAR(OrderDate) to enable the trend comparison.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2020's momentum should be a top strategic priority going into next year.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Product Category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822960" y="1783080"/>
          <a:ext cx="63093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50876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27848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5"/>
          <p:cNvSpPr/>
          <p:nvPr/>
        </p:nvSpPr>
        <p:spPr>
          <a:xfrm>
            <a:off x="7927848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48472" y="1673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01000" y="2112264"/>
            <a:ext cx="3429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&amp; Tablet dominates with ₹270M (44% of total revenue) despite a mid-range average price.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earns ₹92M from far fewer units — highest revenue-per-unit of any category.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Fashion, Health &amp; Beauty, and Home &amp; Office each contribute a fairly even ~₹80–86M.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26680" y="3977640"/>
            <a:ext cx="3977640" cy="2423160"/>
          </a:xfrm>
          <a:prstGeom prst="roundRect">
            <a:avLst>
              <a:gd name="adj" fmla="val 2264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27848" y="4160520"/>
            <a:ext cx="310896" cy="310896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13" name="Text 10"/>
          <p:cNvSpPr/>
          <p:nvPr/>
        </p:nvSpPr>
        <p:spPr>
          <a:xfrm>
            <a:off x="7927848" y="4160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48472" y="4142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01000" y="4581144"/>
            <a:ext cx="3429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Phones &amp; Tablet marketing and stock depth — it's the clear revenue engine.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slower Home &amp; Office items with top Phones &amp; Tablet sellers to lift their visibility.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Matrix visuals (Product × Year) to keep tracking category-level growth or decline.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GROWTH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Customers by Year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822960" y="1783080"/>
          <a:ext cx="63093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50876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27848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5"/>
          <p:cNvSpPr/>
          <p:nvPr/>
        </p:nvSpPr>
        <p:spPr>
          <a:xfrm>
            <a:off x="7927848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48472" y="1673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01000" y="2112264"/>
            <a:ext cx="3429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 held steady at ~17,500 per year from 2015 through 2019.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saw a sharp jump to 25,179 unique customers — a 44% year-over-year increase.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DISTINCTCOUNT(CustomerID) with YEAR(OrderDate) powers this trend measure.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26680" y="3977640"/>
            <a:ext cx="3977640" cy="2423160"/>
          </a:xfrm>
          <a:prstGeom prst="roundRect">
            <a:avLst>
              <a:gd name="adj" fmla="val 2264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27848" y="4160520"/>
            <a:ext cx="310896" cy="310896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13" name="Text 10"/>
          <p:cNvSpPr/>
          <p:nvPr/>
        </p:nvSpPr>
        <p:spPr>
          <a:xfrm>
            <a:off x="7927848" y="4160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48472" y="4142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01000" y="4581144"/>
            <a:ext cx="3429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 acquisition surge aligns with the revenue spike seen the same year.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acquisition, not just higher spend per customer, is driving growth.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loyalty program (see slide 10) can help convert these new customers into repeat buyers.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RETURNS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Returns by Category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1005840" y="1828800"/>
          <a:ext cx="53949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50876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27848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5"/>
          <p:cNvSpPr/>
          <p:nvPr/>
        </p:nvSpPr>
        <p:spPr>
          <a:xfrm>
            <a:off x="7927848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48472" y="1673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01000" y="2112264"/>
            <a:ext cx="3429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30,526 orders were returned overall — about 27% of all orders in the dataset.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(32%) and Fashion (30%) drive nearly two-thirds of all returns.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has the lowest return share at just 9%, despite strong revenue.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26680" y="3977640"/>
            <a:ext cx="3977640" cy="2423160"/>
          </a:xfrm>
          <a:prstGeom prst="roundRect">
            <a:avLst>
              <a:gd name="adj" fmla="val 2264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27848" y="4160520"/>
            <a:ext cx="310896" cy="310896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13" name="Text 10"/>
          <p:cNvSpPr/>
          <p:nvPr/>
        </p:nvSpPr>
        <p:spPr>
          <a:xfrm>
            <a:off x="7927848" y="4160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48472" y="4142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01000" y="4581144"/>
            <a:ext cx="3429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sizing and description accuracy specifically for Fashion and Beauty listings.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Returns = CALCULATE(COUNTA(OrderID), Status = "Returned") flags the trend early.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QC on high-return categories can meaningfully lift customer satisfaction scores.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Location (Top 8)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822960" y="1783080"/>
          <a:ext cx="63093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50876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27848" y="1691640"/>
            <a:ext cx="310896" cy="310896"/>
          </a:xfrm>
          <a:prstGeom prst="ellipse">
            <a:avLst/>
          </a:prstGeom>
          <a:solidFill>
            <a:srgbClr val="00A8E1"/>
          </a:solidFill>
          <a:ln/>
        </p:spPr>
      </p:sp>
      <p:sp>
        <p:nvSpPr>
          <p:cNvPr id="8" name="Text 5"/>
          <p:cNvSpPr/>
          <p:nvPr/>
        </p:nvSpPr>
        <p:spPr>
          <a:xfrm>
            <a:off x="7927848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48472" y="1673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01000" y="2112264"/>
            <a:ext cx="3429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Accra (₹154M) and Ashanti (₹129M) together generate 46% of total revenue.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4 regions produce roughly 74% of all sales — revenue is highly concentrated.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smaller regions contribute under ₹5M each, indicating untapped potential.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26680" y="3977640"/>
            <a:ext cx="3977640" cy="2423160"/>
          </a:xfrm>
          <a:prstGeom prst="roundRect">
            <a:avLst>
              <a:gd name="adj" fmla="val 2264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27848" y="4160520"/>
            <a:ext cx="310896" cy="310896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13" name="Text 10"/>
          <p:cNvSpPr/>
          <p:nvPr/>
        </p:nvSpPr>
        <p:spPr>
          <a:xfrm>
            <a:off x="7927848" y="4160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48472" y="4142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01000" y="4581144"/>
            <a:ext cx="3429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regional distribution hub near Accra/Ashanti to cut delivery time and cost further.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localized promotions and region-specific pricing to grow low-revenue markets.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location-based segmentation to plan targeted expansion and resource allocation.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Pattern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822960" y="1783080"/>
          <a:ext cx="63093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50876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27848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5"/>
          <p:cNvSpPr/>
          <p:nvPr/>
        </p:nvSpPr>
        <p:spPr>
          <a:xfrm>
            <a:off x="7927848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48472" y="1673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01000" y="2112264"/>
            <a:ext cx="3429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leads all months at ₹58M, likely a post-holiday / New Year shopping carry-over.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is the lowest month at ₹45.5M — an 18% dip versus the January peak.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fairly seasonal, dipping mid-to-late in the year before recovering.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26680" y="3977640"/>
            <a:ext cx="3977640" cy="2423160"/>
          </a:xfrm>
          <a:prstGeom prst="roundRect">
            <a:avLst>
              <a:gd name="adj" fmla="val 2264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27848" y="4160520"/>
            <a:ext cx="310896" cy="310896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13" name="Text 10"/>
          <p:cNvSpPr/>
          <p:nvPr/>
        </p:nvSpPr>
        <p:spPr>
          <a:xfrm>
            <a:off x="7927848" y="4160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48472" y="4142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01000" y="4581144"/>
            <a:ext cx="3429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flash sales, bundle deals, and loyalty-exclusive offers in September to lift demand.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free shipping or cashback incentives to smooth the mid-year revenue dip.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inventory and staffing ahead of the January peak to avoid stockouts.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 &amp; Loyalty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822960" y="1783080"/>
          <a:ext cx="63093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4617720"/>
            <a:ext cx="6309360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80060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orders rate 1–2 stars.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delivery + higher shipping cost strongly correlate with these low ratings.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26680" y="150876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27848" y="1691640"/>
            <a:ext cx="310896" cy="310896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10" name="Text 7"/>
          <p:cNvSpPr/>
          <p:nvPr/>
        </p:nvSpPr>
        <p:spPr>
          <a:xfrm>
            <a:off x="7927848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48472" y="1673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01000" y="2112264"/>
            <a:ext cx="3429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from Abroad takes ~15 days on average — 4x longer than Express (3.5 days).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speed, not product category, is the main driver of delivery-time variation.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orders receive a low (1–2 star) rating, tied closely to wait time.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26680" y="3977640"/>
            <a:ext cx="3977640" cy="2423160"/>
          </a:xfrm>
          <a:prstGeom prst="roundRect">
            <a:avLst>
              <a:gd name="adj" fmla="val 2264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27848" y="416052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2"/>
          <p:cNvSpPr/>
          <p:nvPr/>
        </p:nvSpPr>
        <p:spPr>
          <a:xfrm>
            <a:off x="7927848" y="4160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48472" y="41422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Strategy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01000" y="4581144"/>
            <a:ext cx="3429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loyalty program: Platinum / Gold / Silver, segmented by spend &amp; order frequency.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faster shipping upgrades and proactive tracking to reduce low-rating orders.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repeat customers with free shipping and early access to boost retention.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0DF00-1977-0063-7290-5D61ED5A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98369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1E1071-99FD-C79C-27C4-FC31C01D6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08"/>
            <a:ext cx="12192000" cy="682558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66185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082C6-5113-44DB-BD74-02061CDE3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2"/>
            <a:ext cx="12192000" cy="685021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37835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840480" cy="384048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4" name="Shape 2"/>
          <p:cNvSpPr/>
          <p:nvPr/>
        </p:nvSpPr>
        <p:spPr>
          <a:xfrm>
            <a:off x="5358384" y="196596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5358384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31921"/>
                </a:solidFill>
              </a:rPr>
              <a:t>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29718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7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E-Commerce Analytics — Power BI 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Sandeep Koduru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5193792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1028</Words>
  <Application>Microsoft Office PowerPoint</Application>
  <PresentationFormat>Widescreen</PresentationFormat>
  <Paragraphs>221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E-Commerce Analytics — Power BI Project</dc:title>
  <dc:subject>PptxGenJS Presentation</dc:subject>
  <dc:creator>Sandeep Koduru</dc:creator>
  <cp:lastModifiedBy>KODURU SANDEEP SANDEEP</cp:lastModifiedBy>
  <cp:revision>2</cp:revision>
  <dcterms:created xsi:type="dcterms:W3CDTF">2026-07-05T16:32:47Z</dcterms:created>
  <dcterms:modified xsi:type="dcterms:W3CDTF">2026-07-12T08:07:49Z</dcterms:modified>
</cp:coreProperties>
</file>