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7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4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34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C2751-278C-4682-9C3F-0FF7B4FCFAE7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86890-466E-41CD-A28A-B1EBDF22CA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F0845-D09E-4AF9-9623-EA7EA0297EF3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CD11A-EED3-40CE-98A3-28FEE84867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60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836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693A-2307-4FDC-9539-08DC9083DDED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E1C1-C26F-4479-A8BD-144B4C139DA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03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9E61-C2D6-49AB-83F2-8FC9FEFBDAFD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29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BE74F-367A-4D3C-8AA7-FA60CCA05EAE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11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E3F9C-6465-4987-8E4E-615CFD4753AA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6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EFD6-3C20-43C6-9E75-1A9D48D9576F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84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93D5A-A484-46EE-9DC8-9A16BFF8327E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20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7BC8-78D1-4FEB-9D4F-E22E45CC04F7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1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68210-870C-4A62-9D1B-4B25162550AB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59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BDA2-EB00-4A4D-86B7-63E286A484E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754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BDA2-EB00-4A4D-86B7-63E286A484E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0131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BDA2-EB00-4A4D-86B7-63E286A484E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67230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BDA2-EB00-4A4D-86B7-63E286A484E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2988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BDA2-EB00-4A4D-86B7-63E286A484E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66360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BDA2-EB00-4A4D-86B7-63E286A484E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29010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1EA7-B10E-4739-92FE-8993461CC0B7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16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DC13F-2D2A-49BA-966D-6530A12E7C1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566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0CABDA2-EB00-4A4D-86B7-63E286A484E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15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  <p:sldLayoutId id="2147483943" r:id="rId13"/>
    <p:sldLayoutId id="2147483944" r:id="rId14"/>
    <p:sldLayoutId id="2147483945" r:id="rId15"/>
    <p:sldLayoutId id="2147483946" r:id="rId16"/>
    <p:sldLayoutId id="214748394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6648" userDrawn="1">
          <p15:clr>
            <a:srgbClr val="F26B43"/>
          </p15:clr>
        </p15:guide>
        <p15:guide id="5" orient="horz" pos="3528" userDrawn="1">
          <p15:clr>
            <a:srgbClr val="F26B43"/>
          </p15:clr>
        </p15:guide>
        <p15:guide id="6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879B5-66C1-4A59-990E-BD5290D34B2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/>
          <a:stretch>
            <a:fillRect/>
          </a:stretch>
        </p:blipFill>
        <p:spPr>
          <a:xfrm>
            <a:off x="20" y="-1"/>
            <a:ext cx="1219198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7BCDD8-17FC-598B-1619-C7A4C74043D0}"/>
              </a:ext>
            </a:extLst>
          </p:cNvPr>
          <p:cNvSpPr txBox="1"/>
          <p:nvPr/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E- COMMERCE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187C4E-14B9-4504-B200-5127823FA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D7686-8D0F-F73C-34EE-E6D3580FA34B}"/>
              </a:ext>
            </a:extLst>
          </p:cNvPr>
          <p:cNvSpPr txBox="1"/>
          <p:nvPr/>
        </p:nvSpPr>
        <p:spPr>
          <a:xfrm>
            <a:off x="538772" y="1355707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200" dirty="0">
                <a:latin typeface="+mj-lt"/>
                <a:ea typeface="+mj-ea"/>
                <a:cs typeface="+mj-cs"/>
              </a:rPr>
              <a:t>   </a:t>
            </a:r>
            <a:r>
              <a:rPr lang="en-US" sz="11200" dirty="0">
                <a:latin typeface="+mj-lt"/>
                <a:ea typeface="+mj-ea"/>
                <a:cs typeface="+mj-cs"/>
              </a:rPr>
              <a:t>Team Members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45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0" dirty="0">
                <a:latin typeface="+mj-lt"/>
                <a:ea typeface="+mj-ea"/>
                <a:cs typeface="+mj-cs"/>
              </a:rPr>
              <a:t>Kumari </a:t>
            </a:r>
            <a:r>
              <a:rPr lang="en-US" sz="8000" dirty="0" err="1">
                <a:latin typeface="+mj-lt"/>
                <a:ea typeface="+mj-ea"/>
                <a:cs typeface="+mj-cs"/>
              </a:rPr>
              <a:t>Litanjila</a:t>
            </a:r>
            <a:r>
              <a:rPr lang="en-US" sz="8000" dirty="0">
                <a:latin typeface="+mj-lt"/>
                <a:ea typeface="+mj-ea"/>
                <a:cs typeface="+mj-cs"/>
              </a:rPr>
              <a:t>  </a:t>
            </a:r>
            <a:r>
              <a:rPr lang="en-US" sz="8000" dirty="0" err="1">
                <a:latin typeface="+mj-lt"/>
                <a:ea typeface="+mj-ea"/>
                <a:cs typeface="+mj-cs"/>
              </a:rPr>
              <a:t>Raula</a:t>
            </a: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0" dirty="0" err="1">
                <a:latin typeface="+mj-lt"/>
                <a:ea typeface="+mj-ea"/>
                <a:cs typeface="+mj-cs"/>
              </a:rPr>
              <a:t>Deevika</a:t>
            </a:r>
            <a:r>
              <a:rPr lang="en-US" sz="8000" dirty="0">
                <a:latin typeface="+mj-lt"/>
                <a:ea typeface="+mj-ea"/>
                <a:cs typeface="+mj-cs"/>
              </a:rPr>
              <a:t> Ravindra Puthran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0" dirty="0">
                <a:latin typeface="+mj-lt"/>
                <a:ea typeface="+mj-ea"/>
                <a:cs typeface="+mj-cs"/>
              </a:rPr>
              <a:t>Sandeep Koduru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0" dirty="0">
                <a:latin typeface="+mj-lt"/>
                <a:ea typeface="+mj-ea"/>
                <a:cs typeface="+mj-cs"/>
              </a:rPr>
              <a:t>Amruth R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0" dirty="0">
                <a:latin typeface="+mj-lt"/>
                <a:ea typeface="+mj-ea"/>
                <a:cs typeface="+mj-cs"/>
              </a:rPr>
              <a:t>Nasina </a:t>
            </a:r>
            <a:r>
              <a:rPr lang="en-US" sz="8000" dirty="0" err="1">
                <a:latin typeface="+mj-lt"/>
                <a:ea typeface="+mj-ea"/>
                <a:cs typeface="+mj-cs"/>
              </a:rPr>
              <a:t>Vandhupriya</a:t>
            </a: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0" dirty="0">
                <a:latin typeface="+mj-lt"/>
                <a:ea typeface="+mj-ea"/>
                <a:cs typeface="+mj-cs"/>
              </a:rPr>
              <a:t>Shivakumar </a:t>
            </a:r>
            <a:r>
              <a:rPr lang="en-US" sz="8000" dirty="0" err="1">
                <a:latin typeface="+mj-lt"/>
                <a:ea typeface="+mj-ea"/>
                <a:cs typeface="+mj-cs"/>
              </a:rPr>
              <a:t>Bandagar</a:t>
            </a: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8000" dirty="0" err="1">
                <a:latin typeface="+mj-lt"/>
                <a:ea typeface="+mj-ea"/>
                <a:cs typeface="+mj-cs"/>
              </a:rPr>
              <a:t>Tupili</a:t>
            </a:r>
            <a:r>
              <a:rPr lang="en-US" sz="8000" dirty="0">
                <a:latin typeface="+mj-lt"/>
                <a:ea typeface="+mj-ea"/>
                <a:cs typeface="+mj-cs"/>
              </a:rPr>
              <a:t> </a:t>
            </a:r>
            <a:r>
              <a:rPr lang="en-US" sz="8000" dirty="0" err="1">
                <a:latin typeface="+mj-lt"/>
                <a:ea typeface="+mj-ea"/>
                <a:cs typeface="+mj-cs"/>
              </a:rPr>
              <a:t>Lekhasri</a:t>
            </a:r>
            <a:endParaRPr lang="en-US" sz="8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1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1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90881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ED7210-A932-4E61-8591-69CEBB942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348" y="999610"/>
            <a:ext cx="2026018" cy="20260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B722BD-5484-41A6-81C7-9735717F2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643" y="999610"/>
            <a:ext cx="3886200" cy="2026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40CA69-AAA1-4E74-AD8F-EA78CC7F11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760" y="3261381"/>
            <a:ext cx="3908083" cy="18592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892FBA-552B-4621-9227-50C39A6A8C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349" y="3261382"/>
            <a:ext cx="2026018" cy="18592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E8586E-C7C5-A647-1C7D-F448BA13263A}"/>
              </a:ext>
            </a:extLst>
          </p:cNvPr>
          <p:cNvSpPr txBox="1"/>
          <p:nvPr/>
        </p:nvSpPr>
        <p:spPr>
          <a:xfrm>
            <a:off x="119155" y="1237904"/>
            <a:ext cx="3448380" cy="609397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8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A81AB0-02EA-5088-F243-2285699D67D0}"/>
              </a:ext>
            </a:extLst>
          </p:cNvPr>
          <p:cNvSpPr txBox="1"/>
          <p:nvPr/>
        </p:nvSpPr>
        <p:spPr>
          <a:xfrm>
            <a:off x="5399527" y="0"/>
            <a:ext cx="1392945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780F8-7257-B25A-3D6C-542AB5744662}"/>
              </a:ext>
            </a:extLst>
          </p:cNvPr>
          <p:cNvSpPr txBox="1"/>
          <p:nvPr/>
        </p:nvSpPr>
        <p:spPr>
          <a:xfrm>
            <a:off x="0" y="499879"/>
            <a:ext cx="12192000" cy="4770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44FFB-930C-B3A3-9113-2FBC27C3D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4" y="1693718"/>
            <a:ext cx="11554690" cy="49045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BCEF95-0331-415A-A1C8-0E0E9BDC30DB}"/>
              </a:ext>
            </a:extLst>
          </p:cNvPr>
          <p:cNvSpPr txBox="1"/>
          <p:nvPr/>
        </p:nvSpPr>
        <p:spPr>
          <a:xfrm>
            <a:off x="0" y="997902"/>
            <a:ext cx="990253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dashboards turning e-commerce data into actionable insights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37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16C9234-A139-D998-E01B-F082A3326EDA}"/>
              </a:ext>
            </a:extLst>
          </p:cNvPr>
          <p:cNvSpPr txBox="1"/>
          <p:nvPr/>
        </p:nvSpPr>
        <p:spPr>
          <a:xfrm>
            <a:off x="0" y="1115930"/>
            <a:ext cx="11204257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Power BI dashboards for trend analysis and performance tracking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2F6E3-CCB2-6C30-E2F1-E335D7BE5930}"/>
              </a:ext>
            </a:extLst>
          </p:cNvPr>
          <p:cNvSpPr txBox="1"/>
          <p:nvPr/>
        </p:nvSpPr>
        <p:spPr>
          <a:xfrm>
            <a:off x="4560838" y="638876"/>
            <a:ext cx="3062698" cy="4770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sz="25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12514B-309D-4920-6EFA-7DDFCF662E72}"/>
              </a:ext>
            </a:extLst>
          </p:cNvPr>
          <p:cNvSpPr txBox="1"/>
          <p:nvPr/>
        </p:nvSpPr>
        <p:spPr>
          <a:xfrm>
            <a:off x="5395715" y="84878"/>
            <a:ext cx="1392945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985909-D883-CF29-04D2-7BF3C8201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69928"/>
            <a:ext cx="11641393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6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22F6B05-7667-4F18-EAB7-4BD357E30141}"/>
              </a:ext>
            </a:extLst>
          </p:cNvPr>
          <p:cNvSpPr txBox="1"/>
          <p:nvPr/>
        </p:nvSpPr>
        <p:spPr>
          <a:xfrm>
            <a:off x="4660639" y="603945"/>
            <a:ext cx="2870722" cy="4770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endParaRPr lang="en-IN" sz="25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FC7490-2D91-6D06-44A1-138F5E0714E7}"/>
              </a:ext>
            </a:extLst>
          </p:cNvPr>
          <p:cNvSpPr txBox="1"/>
          <p:nvPr/>
        </p:nvSpPr>
        <p:spPr>
          <a:xfrm>
            <a:off x="5308059" y="49947"/>
            <a:ext cx="1489126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DB5E3-2396-E92C-5DFC-F1E78F630C55}"/>
              </a:ext>
            </a:extLst>
          </p:cNvPr>
          <p:cNvSpPr txBox="1"/>
          <p:nvPr/>
        </p:nvSpPr>
        <p:spPr>
          <a:xfrm>
            <a:off x="0" y="1111777"/>
            <a:ext cx="1029820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dynamic Tableau dashboards to track KPIs and uncover business trends.</a:t>
            </a:r>
            <a:endParaRPr lang="en-IN" sz="24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0AF8E-48A5-87CE-B93A-AEE6BAF52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22" y="1604220"/>
            <a:ext cx="11175814" cy="498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6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2411D-8753-B8A6-AC75-638BA72BC506}"/>
              </a:ext>
            </a:extLst>
          </p:cNvPr>
          <p:cNvSpPr txBox="1"/>
          <p:nvPr/>
        </p:nvSpPr>
        <p:spPr>
          <a:xfrm>
            <a:off x="7385967" y="1325880"/>
            <a:ext cx="4158334" cy="30665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Built SQL KPIs for extracting insights directly from the database.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9D1F5-BB9E-3B55-3B06-11E18E90E351}"/>
              </a:ext>
            </a:extLst>
          </p:cNvPr>
          <p:cNvSpPr txBox="1"/>
          <p:nvPr/>
        </p:nvSpPr>
        <p:spPr>
          <a:xfrm>
            <a:off x="7385967" y="4588329"/>
            <a:ext cx="4158334" cy="162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b="1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Week 4</a:t>
            </a: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2" descr="A screenshot of a grid&#10;&#10;AI-generated content may be incorrect.">
            <a:extLst>
              <a:ext uri="{FF2B5EF4-FFF2-40B4-BE49-F238E27FC236}">
                <a16:creationId xmlns:a16="http://schemas.microsoft.com/office/drawing/2014/main" id="{E7827DA9-1242-30E8-B3B7-3246B92B6D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703489"/>
            <a:ext cx="5450557" cy="5450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99821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4D790B-2647-1297-988F-AA77DB18EF8D}"/>
              </a:ext>
            </a:extLst>
          </p:cNvPr>
          <p:cNvSpPr txBox="1"/>
          <p:nvPr/>
        </p:nvSpPr>
        <p:spPr>
          <a:xfrm>
            <a:off x="4565773" y="0"/>
            <a:ext cx="306045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48DFB-EF2B-E592-ED19-FDA3B0967EA8}"/>
              </a:ext>
            </a:extLst>
          </p:cNvPr>
          <p:cNvSpPr txBox="1"/>
          <p:nvPr/>
        </p:nvSpPr>
        <p:spPr>
          <a:xfrm>
            <a:off x="0" y="882149"/>
            <a:ext cx="7268015" cy="509370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 time data flow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Linking multiple sheets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Blank visuals due to wrong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Totals due to incorrect aggregation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chart type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dashboard space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summarizing large data into short insights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344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C24D12-F558-27CE-B859-2B3D1D6B6083}"/>
              </a:ext>
            </a:extLst>
          </p:cNvPr>
          <p:cNvSpPr txBox="1"/>
          <p:nvPr/>
        </p:nvSpPr>
        <p:spPr>
          <a:xfrm>
            <a:off x="5245446" y="91440"/>
            <a:ext cx="170110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EBA27-C986-7C47-3AB9-9E2AB52EF03A}"/>
              </a:ext>
            </a:extLst>
          </p:cNvPr>
          <p:cNvSpPr txBox="1"/>
          <p:nvPr/>
        </p:nvSpPr>
        <p:spPr>
          <a:xfrm>
            <a:off x="0" y="882149"/>
            <a:ext cx="11732594" cy="432426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Properly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checked all links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Tried Multiple layouts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Took team feedback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6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9A6A5A-BEEA-CEF6-6B03-75FAA9C0F52E}"/>
              </a:ext>
            </a:extLst>
          </p:cNvPr>
          <p:cNvSpPr txBox="1"/>
          <p:nvPr/>
        </p:nvSpPr>
        <p:spPr>
          <a:xfrm>
            <a:off x="3451686" y="0"/>
            <a:ext cx="5288627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C96D06-18B2-3CC5-5243-14131E449964}"/>
              </a:ext>
            </a:extLst>
          </p:cNvPr>
          <p:cNvSpPr txBox="1"/>
          <p:nvPr/>
        </p:nvSpPr>
        <p:spPr>
          <a:xfrm>
            <a:off x="0" y="745004"/>
            <a:ext cx="235865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8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E73C7-F6CB-BD88-54E5-EBEB46F289ED}"/>
              </a:ext>
            </a:extLst>
          </p:cNvPr>
          <p:cNvSpPr txBox="1"/>
          <p:nvPr/>
        </p:nvSpPr>
        <p:spPr>
          <a:xfrm>
            <a:off x="-80010" y="1596390"/>
            <a:ext cx="11754853" cy="35548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decision making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saving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performance tracking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errors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accuracy</a:t>
            </a:r>
          </a:p>
        </p:txBody>
      </p:sp>
    </p:spTree>
    <p:extLst>
      <p:ext uri="{BB962C8B-B14F-4D97-AF65-F5344CB8AC3E}">
        <p14:creationId xmlns:p14="http://schemas.microsoft.com/office/powerpoint/2010/main" val="201939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592469-97A0-2A4E-6D0D-1A92EDA6A2BC}"/>
              </a:ext>
            </a:extLst>
          </p:cNvPr>
          <p:cNvSpPr txBox="1"/>
          <p:nvPr/>
        </p:nvSpPr>
        <p:spPr>
          <a:xfrm>
            <a:off x="0" y="619432"/>
            <a:ext cx="240001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28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B98B2-CC06-C10A-ED22-42DE5E560EC0}"/>
              </a:ext>
            </a:extLst>
          </p:cNvPr>
          <p:cNvSpPr txBox="1"/>
          <p:nvPr/>
        </p:nvSpPr>
        <p:spPr>
          <a:xfrm>
            <a:off x="0" y="1460371"/>
            <a:ext cx="10205884" cy="39395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 data cleaning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linking errors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issues with large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find small errors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sensitivity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64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768214-D874-9048-972B-49069BD5C871}"/>
              </a:ext>
            </a:extLst>
          </p:cNvPr>
          <p:cNvSpPr txBox="1"/>
          <p:nvPr/>
        </p:nvSpPr>
        <p:spPr>
          <a:xfrm>
            <a:off x="4701227" y="0"/>
            <a:ext cx="2789546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A7D96-2299-957F-73DD-CFCC6816FF4F}"/>
              </a:ext>
            </a:extLst>
          </p:cNvPr>
          <p:cNvSpPr txBox="1"/>
          <p:nvPr/>
        </p:nvSpPr>
        <p:spPr>
          <a:xfrm>
            <a:off x="25318" y="945573"/>
            <a:ext cx="3015634" cy="278537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dashboards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</a:t>
            </a:r>
            <a:endParaRPr lang="en-IN" sz="25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127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0FB27-FB03-68A0-C613-C27E26652561}"/>
              </a:ext>
            </a:extLst>
          </p:cNvPr>
          <p:cNvSpPr txBox="1"/>
          <p:nvPr/>
        </p:nvSpPr>
        <p:spPr>
          <a:xfrm>
            <a:off x="2090480" y="2613392"/>
            <a:ext cx="8011039" cy="16312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0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147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A1BD8E5-A18E-435C-B431-90A6B59F4B6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295</TotalTime>
  <Words>188</Words>
  <Application>Microsoft Office PowerPoint</Application>
  <PresentationFormat>Widescreen</PresentationFormat>
  <Paragraphs>94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amruth.r003@gmail.com</dc:creator>
  <cp:lastModifiedBy>amruth.r003@gmail.com</cp:lastModifiedBy>
  <cp:revision>12</cp:revision>
  <dcterms:created xsi:type="dcterms:W3CDTF">2025-10-28T14:57:04Z</dcterms:created>
  <dcterms:modified xsi:type="dcterms:W3CDTF">2025-12-04T07:38:22Z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